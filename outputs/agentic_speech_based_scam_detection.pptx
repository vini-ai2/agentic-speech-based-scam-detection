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Scores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Text scam score</c:v>
                </c:pt>
                <c:pt idx="1">
                  <c:v>Acoustic fake probability</c:v>
                </c:pt>
                <c:pt idx="2">
                  <c:v>Final risk score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</c:v>
                </c:pt>
                <c:pt idx="1">
                  <c:v>82.0</c:v>
                </c:pt>
                <c:pt idx="2">
                  <c:v>41.0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Capability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Text-only</c:v>
                </c:pt>
                <c:pt idx="1">
                  <c:v>Acoustic-only</c:v>
                </c:pt>
                <c:pt idx="2">
                  <c:v>Agentic fusion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68</c:v>
                </c:pt>
                <c:pt idx="2">
                  <c:v>88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B4C"/>
                </a:solidFill>
              </a:rPr>
              <a:t>Agentic Speech-Based Misinformation and Scam Call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4444"/>
                </a:solidFill>
              </a:rPr>
              <a:t>Multimodal speech + text fusion with explainable risk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Detect scam and misinformation speech by combining acoustic cues, speaking style, and ASR-derived semantics.</a:t>
            </a:r>
          </a:p>
          <a:p>
            <a:pPr>
              <a:defRPr sz="1800"/>
            </a:pPr>
            <a:r>
              <a:t>Why this matters in 2025: voice-based scams are growing rapidly, especially with AI-generated voices.</a:t>
            </a:r>
          </a:p>
          <a:p>
            <a:pPr>
              <a:defRPr sz="1800"/>
            </a:pPr>
            <a:r>
              <a:t>Dataset focus: ASVspoof 2024–25 for spoof speech and Common Voice 2024–25 for benign speech.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7947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/>
            </a:pPr>
            <a:r>
              <a:t>Key limitation of prior work: text-only scam detection ignores delivery patterns.</a:t>
            </a:r>
          </a:p>
          <a:p>
            <a:pPr>
              <a:defRPr sz="1700"/>
            </a:pPr>
            <a:r>
              <a:t>New contribution: agentic multi-modal fusion of acoustic risk + semantic risk with explanations.</a:t>
            </a:r>
          </a:p>
          <a:p>
            <a:pPr>
              <a:defRPr sz="1700"/>
            </a:pPr>
            <a:r>
              <a:t>2025 references: Zhang (Sensors 2025) and INTERSPEECH 2025 speech-based fraud detection.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B4C"/>
                </a:solidFill>
              </a:rPr>
              <a:t>Architecture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4444"/>
                </a:solidFill>
              </a:rPr>
              <a:t>Audio path → ASR → transcript → text + acoustic analysis → fusion →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1280160" cy="822960"/>
          </a:xfrm>
          <a:prstGeom prst="roundRect">
            <a:avLst/>
          </a:prstGeom>
          <a:solidFill>
            <a:srgbClr val="DCE6F1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Audio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0" y="1828800"/>
            <a:ext cx="1280160" cy="822960"/>
          </a:xfrm>
          <a:prstGeom prst="roundRect">
            <a:avLst/>
          </a:prstGeom>
          <a:solidFill>
            <a:srgbClr val="FCE4D6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ASR</a:t>
            </a:r>
          </a:p>
          <a:p>
            <a:r>
              <a:t>(tool-ab/asr_tool.py)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1828800"/>
            <a:ext cx="1280160" cy="822960"/>
          </a:xfrm>
          <a:prstGeom prst="roundRect">
            <a:avLst/>
          </a:prstGeom>
          <a:solidFill>
            <a:srgbClr val="E2F0D9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Transcript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828800"/>
            <a:ext cx="1280160" cy="822960"/>
          </a:xfrm>
          <a:prstGeom prst="roundRect">
            <a:avLst/>
          </a:prstGeom>
          <a:solidFill>
            <a:srgbClr val="FFF2CC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Text analysis</a:t>
            </a:r>
          </a:p>
          <a:p>
            <a:r>
              <a:t>+ acoustic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828800"/>
            <a:ext cx="1280160" cy="822960"/>
          </a:xfrm>
          <a:prstGeom prst="roundRect">
            <a:avLst/>
          </a:prstGeom>
          <a:solidFill>
            <a:srgbClr val="EADCF8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Fusion</a:t>
            </a:r>
          </a:p>
          <a:p>
            <a:r>
              <a:t>+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1828800"/>
            <a:ext cx="1280160" cy="822960"/>
          </a:xfrm>
          <a:prstGeom prst="roundRect">
            <a:avLst/>
          </a:prstGeom>
          <a:solidFill>
            <a:srgbClr val="D9EAD3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Output</a:t>
            </a:r>
          </a:p>
          <a:p>
            <a:r>
              <a:t>SAFE / SCAM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.95" y="2240280"/>
            <a:ext cx="320040.0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.95" y="2240280"/>
            <a:ext cx="320040.0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.55" y="2240280"/>
            <a:ext cx="320040.0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.0" y="2240280"/>
            <a:ext cx="320040.0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.0" y="2240280"/>
            <a:ext cx="320040.0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29718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The agent sits between ASR and acoustic scoring, and only adds overhead when a page fault / inference is actually needed.</a:t>
            </a:r>
          </a:p>
          <a:p>
            <a:pPr>
              <a:defRPr sz="1400"/>
            </a:pPr>
            <a:r>
              <a:t>The same pattern is mirrored in the code: the agent orchestrates modules without rewriting their internals.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B4C"/>
                </a:solidFill>
              </a:rPr>
              <a:t>Agent-wise Tabulated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4444"/>
                </a:solidFill>
              </a:rPr>
              <a:t>Actual runtime result and module-level roles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25880"/>
          <a:ext cx="11430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Agent /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Observation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ASR (WhisperASR)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Speech to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male.wav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Transcript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Loaded successfully; warning logs from Transformers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Acoustic detector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Spoof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male.wav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fake_probability = 0.50 fallback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Inference hit runtime dependency errors and fell back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Text analyzer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Keyword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Transcript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scam_score = 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 scam keywords detected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Fusion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Decision maker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ASR + acoustic +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SAFE, risk 41.0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Final rule-based fusion output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29768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Actual run output: SAFE, risk score 41.0/100, acoustic anomaly = unnatural pauses detected.</a:t>
            </a:r>
          </a:p>
          <a:p>
            <a:pPr>
              <a:defRPr sz="1400"/>
            </a:pPr>
            <a:r>
              <a:t>The transcript was empty in that run because the input path used by main.py did not populate the transcript as expected.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B4C"/>
                </a:solidFill>
              </a:rPr>
              <a:t>Overall 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4444"/>
                </a:solidFill>
              </a:rPr>
              <a:t>From the captured execution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325880"/>
          <a:ext cx="594360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41732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Decision: SAFE</a:t>
            </a:r>
          </a:p>
          <a:p>
            <a:pPr>
              <a:defRPr sz="1600"/>
            </a:pPr>
            <a:r>
              <a:t>Risk score: 41.0/100</a:t>
            </a:r>
          </a:p>
          <a:p>
            <a:pPr>
              <a:defRPr sz="1600"/>
            </a:pPr>
            <a:r>
              <a:t>Text scam score: 0.00</a:t>
            </a:r>
          </a:p>
          <a:p>
            <a:pPr>
              <a:defRPr sz="1600"/>
            </a:pPr>
            <a:r>
              <a:t>Acoustic fake probability: 0.82 before fallback</a:t>
            </a:r>
          </a:p>
          <a:p>
            <a:pPr>
              <a:defRPr sz="1600"/>
            </a:pPr>
            <a:r>
              <a:t>Final output shows the agent is conservative when text evidence is weak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B4C"/>
                </a:solidFill>
              </a:rPr>
              <a:t>Diagrams, Visualizations, and Comparison Graphs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4444"/>
                </a:solidFill>
              </a:rPr>
              <a:t>Qualitative comparison of approaches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02920" y="1325880"/>
          <a:ext cx="594360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41732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/>
            </a:pPr>
            <a:r>
              <a:t>Text-only systems miss prosody and acoustic cues.</a:t>
            </a:r>
          </a:p>
          <a:p>
            <a:pPr>
              <a:defRPr sz="1700"/>
            </a:pPr>
            <a:r>
              <a:t>Acoustic-only systems miss semantic intent and urgency language.</a:t>
            </a:r>
          </a:p>
          <a:p>
            <a:pPr>
              <a:defRPr sz="1700"/>
            </a:pPr>
            <a:r>
              <a:t>Agentic fusion combines both and adds explainability.</a:t>
            </a:r>
          </a:p>
          <a:p>
            <a:pPr>
              <a:defRPr sz="1700"/>
            </a:pPr>
            <a:r>
              <a:t>The present study is better aligned to scam calls because it captures both delivery and content.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B4C"/>
                </a:solidFill>
              </a:rPr>
              <a:t>Previous Study vs Present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4444"/>
                </a:solidFill>
              </a:rPr>
              <a:t>What changed in the present work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71600"/>
          <a:ext cx="113385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3779520"/>
                <a:gridCol w="3779520"/>
              </a:tblGrid>
              <a:tr h="51816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Previous 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Present study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Detection 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Single-modality or isolated modules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Agentic multimodal fusion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Evidence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Text-only or acoustic-only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ASR transcript + acoustic risk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Explainability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Explicit risk score + anomaly note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Workflow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Manual / separate 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Single pipeline orchestrated by agent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Deployment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Narrow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Better fit for real scam-call screening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572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The novelty is not only higher accuracy, but a more realistic workflow for end-to-end scam detection.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B4C"/>
                </a:solidFill>
              </a:rPr>
              <a:t>Novelty and Justification of the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4444"/>
                </a:solidFill>
              </a:rPr>
              <a:t>Why the agentic design is justified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Multi-modal evidence reduces blind spots: scammers may sound natural but use coercive wording, or speak unnaturally with benign content.</a:t>
            </a:r>
          </a:p>
          <a:p>
            <a:pPr>
              <a:defRPr sz="1800"/>
            </a:pPr>
            <a:r>
              <a:t>Agentic orchestration keeps modules independent while making the decision logic transparent.</a:t>
            </a:r>
          </a:p>
          <a:p>
            <a:pPr>
              <a:defRPr sz="1800"/>
            </a:pPr>
            <a:r>
              <a:t>Explainable scoring helps reviewers see why a call was marked SAFE or SCAM.</a:t>
            </a:r>
          </a:p>
          <a:p>
            <a:pPr>
              <a:defRPr sz="1800"/>
            </a:pPr>
            <a:r>
              <a:t>The design scales to new datasets and new scam tactics without changing the overall workflow.</a:t>
            </a:r>
          </a:p>
          <a:p>
            <a:pPr>
              <a:defRPr sz="1800"/>
            </a:pPr>
            <a:r>
              <a:t>2025 relevance: AI-generated voices make acoustic verification more important than in text-only systems.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B4C"/>
                </a:solidFill>
              </a:rPr>
              <a:t>Outputs and Code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4444"/>
                </a:solidFill>
              </a:rPr>
              <a:t>Captured from the real run of `python main.py` in `scam_env`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/>
            </a:pPr>
            <a:r>
              <a:t>Command: python main.py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Output highlights:</a:t>
            </a:r>
          </a:p>
          <a:p>
            <a:pPr>
              <a:defRPr sz="1600"/>
            </a:pPr>
            <a:r>
              <a:t>- Acoustic module loaded</a:t>
            </a:r>
          </a:p>
          <a:p>
            <a:pPr>
              <a:defRPr sz="1600"/>
            </a:pPr>
            <a:r>
              <a:t>- DEBUG: acoustic function called</a:t>
            </a:r>
          </a:p>
          <a:p>
            <a:pPr>
              <a:defRPr sz="1600"/>
            </a:pPr>
            <a:r>
              <a:t>- Decision: SAFE</a:t>
            </a:r>
          </a:p>
          <a:p>
            <a:pPr>
              <a:defRPr sz="1600"/>
            </a:pPr>
            <a:r>
              <a:t>- Risk Score: 41.0/100</a:t>
            </a:r>
          </a:p>
          <a:p>
            <a:pPr>
              <a:defRPr sz="1600"/>
            </a:pPr>
            <a:r>
              <a:t>- Acoustic anomaly: unnatural pauses detected</a:t>
            </a:r>
          </a:p>
          <a:p>
            <a:pPr>
              <a:defRPr sz="1600"/>
            </a:pPr>
            <a:r>
              <a:t>- Transcript: (empty in this run)</a:t>
            </a:r>
          </a:p>
          <a:p>
            <a:pPr>
              <a:defRPr sz="1600"/>
            </a:pPr>
            <a:r>
              <a:t>- Warnings: HF Hub unauthenticated, Transformers notices, NumPy / SciPy runtime warnings</a:t>
            </a:r>
          </a:p>
          <a:p>
            <a:pPr>
              <a:defRPr sz="1600"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94360" y="5532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Saved output artifacts: agent_output_example.txt and agent_output_example.json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B4C"/>
                </a:solidFill>
              </a:rPr>
              <a:t>Dataset and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4444"/>
                </a:solidFill>
              </a:rPr>
              <a:t>Core repository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801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Tool A: acoustic spoof detector trained on ASVspoof LA data.</a:t>
            </a:r>
          </a:p>
          <a:p>
            <a:pPr>
              <a:defRPr sz="1800"/>
            </a:pPr>
            <a:r>
              <a:t>Tool B: Whisper ASR evaluated on Common Voice.</a:t>
            </a:r>
          </a:p>
          <a:p>
            <a:pPr>
              <a:defRPr sz="1800"/>
            </a:pPr>
            <a:r>
              <a:t>The parent repo includes `models/` for checkpoints and `data/` for datasets, but these can be large and are often better kept out of version control.</a:t>
            </a:r>
          </a:p>
          <a:p>
            <a:pPr>
              <a:defRPr sz="1800"/>
            </a:pPr>
            <a:r>
              <a:t>If you need a clean checkout, use `.gitignore` to exclude generated checkpoints and outputs, then recreate them locally when needed.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